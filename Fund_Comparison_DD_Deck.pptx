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0" r:id="rId2"/>
    <p:sldId id="256" r:id="rId3"/>
    <p:sldId id="257" r:id="rId4"/>
    <p:sldId id="258" r:id="rId5"/>
    <p:sldId id="259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73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Fund Comparison – Due Diligence Perspective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r>
              <a:rPr sz="1600" b="1" dirty="0"/>
              <a:t>Fund 1 ($100m)</a:t>
            </a:r>
          </a:p>
          <a:p>
            <a:pPr lvl="1">
              <a:defRPr sz="1400"/>
            </a:pPr>
            <a:r>
              <a:rPr dirty="0"/>
              <a:t>• IRR: 12.5% | TVPI: 2.00x | DPI: 2.00x</a:t>
            </a:r>
          </a:p>
          <a:p>
            <a:pPr lvl="1">
              <a:defRPr sz="1400"/>
            </a:pPr>
            <a:r>
              <a:rPr dirty="0"/>
              <a:t>• Fully realized (NAV = 0) – all value distributed</a:t>
            </a:r>
          </a:p>
          <a:p>
            <a:pPr lvl="1">
              <a:defRPr sz="1400"/>
            </a:pPr>
            <a:r>
              <a:rPr dirty="0"/>
              <a:t>• Strengths: Proven liquidity, certainty of outcome</a:t>
            </a:r>
          </a:p>
          <a:p>
            <a:pPr lvl="1">
              <a:defRPr sz="1400"/>
            </a:pPr>
            <a:r>
              <a:rPr dirty="0"/>
              <a:t>• DD Focus: Replicability of strategy, concentration risk, team continuity</a:t>
            </a:r>
          </a:p>
          <a:p>
            <a:r>
              <a:rPr sz="1600" b="1" dirty="0"/>
              <a:t>Fund 2 ($1,000m)</a:t>
            </a:r>
          </a:p>
          <a:p>
            <a:pPr lvl="1">
              <a:defRPr sz="1400"/>
            </a:pPr>
            <a:r>
              <a:rPr dirty="0"/>
              <a:t>• IRR: 13.7% | TVPI: 2.33x | DPI: 1.33x</a:t>
            </a:r>
          </a:p>
          <a:p>
            <a:pPr lvl="1">
              <a:defRPr sz="1400"/>
            </a:pPr>
            <a:r>
              <a:rPr dirty="0"/>
              <a:t>• Significant unrealized NAV ($750m)</a:t>
            </a:r>
          </a:p>
          <a:p>
            <a:pPr lvl="1">
              <a:defRPr sz="1400"/>
            </a:pPr>
            <a:r>
              <a:rPr dirty="0"/>
              <a:t>• Strengths: Higher reported returns, larger scale</a:t>
            </a:r>
          </a:p>
          <a:p>
            <a:pPr lvl="1">
              <a:defRPr sz="1400"/>
            </a:pPr>
            <a:r>
              <a:rPr dirty="0"/>
              <a:t>• DD Focus: NAV quality &amp; audit, exit timing, sector exposure, valuation conservatism</a:t>
            </a:r>
          </a:p>
          <a:p>
            <a:r>
              <a:rPr sz="1600" b="1" dirty="0"/>
              <a:t>Key DD Questions</a:t>
            </a:r>
          </a:p>
          <a:p>
            <a:pPr lvl="1">
              <a:defRPr sz="1400"/>
            </a:pPr>
            <a:r>
              <a:rPr dirty="0"/>
              <a:t>• For Both: Realizations vs underwriting? Repeatability? Peer comparison?</a:t>
            </a:r>
          </a:p>
          <a:p>
            <a:pPr lvl="1">
              <a:defRPr sz="1400"/>
            </a:pPr>
            <a:r>
              <a:rPr dirty="0"/>
              <a:t>• Fund 1: Scalable beyond small fund? Portfolio concentration?</a:t>
            </a:r>
          </a:p>
          <a:p>
            <a:pPr lvl="1">
              <a:defRPr sz="1400"/>
            </a:pPr>
            <a:r>
              <a:rPr dirty="0"/>
              <a:t>• Fund 2: Exit plan for NAV? Breakdown of unrealized positions? Valuation track record?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Fund 1 vs Fund 2 — Due Diligence Summary (as of 6/30/2024)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Two closed-end funds with different liquidity and valuation profiles. Metrics below are fund-level net to LPs.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28800"/>
          <a:ext cx="8229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Fund 1 ($100mm)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Fund 2 ($1,000mm)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t>Paid-In Capital (PIC)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$100mm (100%)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$750mm (75%)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t>Distributions (Cumulative)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$200mm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$1,000mm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t>Unrealized Value (NAV)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$750mm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t>IRR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13.7%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t>DPI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2.00x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1.33x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t>RVPI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1.00x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t>TVPI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2.00x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2.33x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3035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t>• Fund 1: fully realized; DPI = TVPI; no valuation risk; faster payback (~6.5 yrs).</a:t>
            </a:r>
          </a:p>
          <a:p>
            <a:r>
              <a:t>• Fund 2: higher headline IRR/TVPI but ~43% of value is unrealized; slower payback (~9.1 yrs).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Fund 2 Sensitivities — NAV Haircuts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Impact of marking $750mm NAV down at 6/30/24: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82296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r>
                        <a:t>Scenario (NAV)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IRR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TVPI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t>Base ($750mm)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2.33x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t>-10% ($675mm)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≈13.2%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2.23x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t>-20% ($600mm)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≈12.6%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2.13x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t>-30% ($525mm)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≈12.0%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2.00x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93192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t>• Read-through: returns are sensitive to marks, but still competitive; dispersion and exit timing remain key risks.</a:t>
            </a:r>
          </a:p>
          <a:p>
            <a:r>
              <a:t>• Priority diligence: valuation policy &amp; back-testing, by-asset exit pipelines, buyer lists, leverage/NAV facilities, and reserves/recycling.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Targeted Due Diligence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t>• Valuation governance: auditor, independent valuation agents, committee process, and frequency.</a:t>
            </a:r>
          </a:p>
          <a:p>
            <a:r>
              <a:t>• Back-testing: realizations vs prior-quarter marks; % of exits ≥, =, or &lt; the carrying value.</a:t>
            </a:r>
          </a:p>
          <a:p>
            <a:r>
              <a:t>• Top 10 holdings: thesis, exit route &amp; timing, gating items, and downside cases.</a:t>
            </a:r>
          </a:p>
          <a:p>
            <a:r>
              <a:t>• Dispersion &amp; concentration: MOIC/IRR distribution; exposure of top 5 as % of NAV and of PIC.</a:t>
            </a:r>
          </a:p>
          <a:p>
            <a:r>
              <a:t>• Use of leverage: subscription/NAV lines, days outstanding, and IRR uplift or risk.</a:t>
            </a:r>
          </a:p>
          <a:p>
            <a:r>
              <a:t>• Reserves &amp; recycling: capital reserved for follow-ons; impact on DPI path.</a:t>
            </a:r>
          </a:p>
          <a:p>
            <a:r>
              <a:t>• Style drift: actual vs PPM by sector/size/geography; rationale for deviations.</a:t>
            </a:r>
          </a:p>
          <a:p>
            <a:r>
              <a:t>• Team durability: key-person, carry ownership, recent departures, and succession.</a:t>
            </a:r>
          </a:p>
          <a:p>
            <a:r>
              <a:t>• Terms &amp; alignment: fee base evolution, hurdle &amp; catch-up, GP commit, co-invest fairness.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IC Framing — Preference &amp; Conditions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8328" y="1609344"/>
            <a:ext cx="860844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r>
              <a:rPr dirty="0"/>
              <a:t>• Fund 1: Delivered 2.0x DPI and 12.5% IRR with zero NAV — low risk and high certainty (‘bird in hand’).</a:t>
            </a:r>
          </a:p>
          <a:p>
            <a:r>
              <a:rPr dirty="0"/>
              <a:t>• Fund 2: Higher headline IRR/TVPI and institutional scale, but ~43% of value in NAV; slower payback.</a:t>
            </a:r>
          </a:p>
          <a:p>
            <a:r>
              <a:rPr dirty="0"/>
              <a:t>• Approval framework for Fund 2: proceed if NAV quality is validated (back-tested), </a:t>
            </a:r>
            <a:endParaRPr lang="en-US" dirty="0"/>
          </a:p>
          <a:p>
            <a:r>
              <a:rPr dirty="0"/>
              <a:t>exit timelines are near-term and credible, and dispersion/concentration risk is acceptable.</a:t>
            </a:r>
          </a:p>
          <a:p>
            <a:r>
              <a:rPr dirty="0"/>
              <a:t>• Otherwise, favor Fund 1 as the realized-cash winner for the period evaluated.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Private Investments — Metrics, Meanings &amp; Mental Math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97280"/>
          <a:ext cx="8595360" cy="52138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7624">
                <a:tc>
                  <a:txBody>
                    <a:bodyPr/>
                    <a:lstStyle/>
                    <a:p>
                      <a:r>
                        <a:rPr sz="105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1"/>
                        <a:t>What it means (asset‑class neutral)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1"/>
                        <a:t>Mental quick calc (rules of thumb)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624">
                <a:tc>
                  <a:txBody>
                    <a:bodyPr/>
                    <a:lstStyle/>
                    <a:p>
                      <a:r>
                        <a:rPr sz="1050"/>
                        <a:t>Paid‑In Capital (PIC)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/>
                        <a:t>Total dollars LPs actually contributed to the fund.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/>
                        <a:t>Add all capital calls. Think of it as your cost basis.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624">
                <a:tc>
                  <a:txBody>
                    <a:bodyPr/>
                    <a:lstStyle/>
                    <a:p>
                      <a:r>
                        <a:rPr sz="1050"/>
                        <a:t>Cumulative Distributions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/>
                        <a:t>Cash returned to LPs so far.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/>
                        <a:t>Sum all distributions received. Ignore remaining NAV.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624">
                <a:tc>
                  <a:txBody>
                    <a:bodyPr/>
                    <a:lstStyle/>
                    <a:p>
                      <a:r>
                        <a:rPr sz="1050"/>
                        <a:t>Net Asset Value (NAV)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/>
                        <a:t>Fair value of what’s still in the ground (unrealized).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/>
                        <a:t>Manager’s current mark. Stress mentally: −10%/−20% to see impact.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624">
                <a:tc>
                  <a:txBody>
                    <a:bodyPr/>
                    <a:lstStyle/>
                    <a:p>
                      <a:r>
                        <a:rPr sz="1050"/>
                        <a:t>Gross MOIC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/>
                        <a:t>Portfolio multiple before fees/carry — pure asset performance.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/>
                        <a:t>Gross MOIC ≈ (Realized + Unrealized) ÷ Invested. If $200 back on $100 cost ⇒ 2.0x.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624">
                <a:tc>
                  <a:txBody>
                    <a:bodyPr/>
                    <a:lstStyle/>
                    <a:p>
                      <a:r>
                        <a:rPr sz="1050"/>
                        <a:t>TVPI (Net MOIC)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/>
                        <a:t>Total value to paid‑in, net to LPs (realized + unrealized over calls).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/>
                        <a:t>TVPI ≈ (Distributions + NAV) ÷ PIC. If DPI=1.2x and RVPI=0.5x ⇒ TVPI=1.7x.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624">
                <a:tc>
                  <a:txBody>
                    <a:bodyPr/>
                    <a:lstStyle/>
                    <a:p>
                      <a:r>
                        <a:rPr sz="1050"/>
                        <a:t>DPI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/>
                        <a:t>Cash‑on‑cash realized return to LPs.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/>
                        <a:t>DPI ≈ Distributions ÷ PIC. ‘Bird‑in‑hand’ multiple.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7624">
                <a:tc>
                  <a:txBody>
                    <a:bodyPr/>
                    <a:lstStyle/>
                    <a:p>
                      <a:r>
                        <a:rPr sz="1050"/>
                        <a:t>RVPI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/>
                        <a:t>Unrealized portion of value still at risk.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/>
                        <a:t>RVPI ≈ NAV ÷ PIC. Identity: TVPI = DPI + RVPI.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7624">
                <a:tc>
                  <a:txBody>
                    <a:bodyPr/>
                    <a:lstStyle/>
                    <a:p>
                      <a:r>
                        <a:rPr sz="1050"/>
                        <a:t>IRR (Net)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/>
                        <a:t>Annualized return to LPs incorporating timing of cash flows.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/>
                        <a:t>Convert multiple to IRR: IRR ≈ (MOIC)^(1/Years) − 1  (or ln(MOIC)/Years for quick mental).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7624">
                <a:tc>
                  <a:txBody>
                    <a:bodyPr/>
                    <a:lstStyle/>
                    <a:p>
                      <a:r>
                        <a:rPr sz="1050"/>
                        <a:t>Payback 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/>
                        <a:t>How long until LPs recover what they paid in (DPI ≥ 1.0x).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/>
                        <a:t>Track year cash came back; the first year DPI hits 1.0x is payback.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7624">
                <a:tc>
                  <a:txBody>
                    <a:bodyPr/>
                    <a:lstStyle/>
                    <a:p>
                      <a:r>
                        <a:rPr sz="1050"/>
                        <a:t>Fee Drag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/>
                        <a:t>Gap between gross and net performance driven by fees/carry.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/>
                        <a:t>Drag (multiple) ≈ Gross MOIC − TVPI. Over‑hurdle net multiple ≈ 1 + (Gross−1)×(1−carry%).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7624">
                <a:tc>
                  <a:txBody>
                    <a:bodyPr/>
                    <a:lstStyle/>
                    <a:p>
                      <a:r>
                        <a:rPr sz="1050"/>
                        <a:t>Liquidity Mix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/>
                        <a:t>Realized vs unrealized share of total value.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/>
                        <a:t>Realized share ≈ DPI/TVPI. Unrealized ≈ RVPI/TVPI.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7632">
                <a:tc>
                  <a:txBody>
                    <a:bodyPr/>
                    <a:lstStyle/>
                    <a:p>
                      <a:r>
                        <a:rPr sz="1050"/>
                        <a:t>PME (intuition)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/>
                        <a:t>Whether the fund beat public markets after timing effects.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/>
                        <a:t>If fund’s TVPI roughly matches public index growth over same period → PME ≈ 1. &gt;1 means outperformance.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74320" y="6311116"/>
            <a:ext cx="8595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dirty="0"/>
              <a:t>Multiple ↔ IRR cheats (rough): 1.5x in 3y ≈ 14% • 1.5x in 5y ≈ 8% • 2.0x in 3y ≈ 26% • 2.0x in 5y ≈ 15% • 3.0x in 5y ≈ 25% • 3.0x in 7y ≈ 17%  |  Rule of 72: Years to double ≈ 72 / IRR%.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1133</Words>
  <Application>Microsoft Office PowerPoint</Application>
  <PresentationFormat>On-screen Show (4:3)</PresentationFormat>
  <Paragraphs>124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Fund Comparison – Due Diligence Perspective</vt:lpstr>
      <vt:lpstr>Fund 1 vs Fund 2 — Due Diligence Summary (as of 6/30/2024)</vt:lpstr>
      <vt:lpstr>Fund 2 Sensitivities — NAV Haircuts</vt:lpstr>
      <vt:lpstr>Targeted Due Diligence Questions</vt:lpstr>
      <vt:lpstr>IC Framing — Preference &amp; Conditions</vt:lpstr>
      <vt:lpstr>Private Investments — Metrics, Meanings &amp; Mental Math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hihih</dc:creator>
  <cp:keywords/>
  <dc:description>generated using python-pptx</dc:description>
  <cp:lastModifiedBy>Stephanie Price-Cummings</cp:lastModifiedBy>
  <cp:revision>2</cp:revision>
  <dcterms:created xsi:type="dcterms:W3CDTF">2013-01-27T09:14:16Z</dcterms:created>
  <dcterms:modified xsi:type="dcterms:W3CDTF">2025-09-01T21:35:06Z</dcterms:modified>
  <cp:category/>
</cp:coreProperties>
</file>